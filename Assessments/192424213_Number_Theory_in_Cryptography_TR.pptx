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8B1853-F86E-DB5E-B7A8-E6F8A973B35C}">
          <p14:sldIdLst>
            <p14:sldId id="256"/>
          </p14:sldIdLst>
        </p14:section>
        <p14:section name="Foundations" id="{75A50CF3-3DF5-367B-2217-1907AFC73EA5}">
          <p14:sldIdLst>
            <p14:sldId id="257"/>
            <p14:sldId id="258"/>
            <p14:sldId id="259"/>
            <p14:sldId id="260"/>
          </p14:sldIdLst>
        </p14:section>
        <p14:section name="Euler’s Results" id="{90787EE1-FF99-A145-9DAC-2F72753CE21F}">
          <p14:sldIdLst>
            <p14:sldId id="261"/>
            <p14:sldId id="262"/>
          </p14:sldIdLst>
        </p14:section>
        <p14:section name="RSA" id="{7F7FC3D6-1CF4-D424-29A3-3082F0A674DF}">
          <p14:sldIdLst>
            <p14:sldId id="263"/>
            <p14:sldId id="264"/>
          </p14:sldIdLst>
        </p14:section>
        <p14:section name="Wrap-up" id="{62A8A55F-1841-F28E-0CB7-14F8DBAA035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9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LAV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KY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PINK">
    <p:bg>
      <p:bgPr>
        <a:solidFill>
          <a:srgbClr val="FCE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INT">
    <p:bg>
      <p:bgPr>
        <a:solidFill>
          <a:srgbClr val="CCFB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PEACH">
    <p:bg>
      <p:bgPr>
        <a:solidFill>
          <a:srgbClr val="FFED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LILAC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YAN">
    <p:bg>
      <p:bgPr>
        <a:solidFill>
          <a:srgbClr val="CF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INDIGO"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4E99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83080"/>
            <a:ext cx="63093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AEF0"/>
                </a:solidFill>
              </a:rPr>
              <a:t>CSA5116  |  Role of Number Theory in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AEF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731520" y="1234440"/>
            <a:ext cx="4901184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tx1"/>
                </a:solidFill>
              </a:rPr>
              <a:t>CSA5116  ·  CRYPTOGRAPHY AND NETWORK SECURITY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830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Role of Number Theory in Cryptography: From Euclid to Euler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4B5FD"/>
                </a:solidFill>
              </a:rPr>
              <a:t>Mathematical Foundations of Secure Communication</a:t>
            </a:r>
            <a:endParaRPr lang="en-US" sz="2000" dirty="0"/>
          </a:p>
        </p:txBody>
      </p:sp>
      <p:sp>
        <p:nvSpPr>
          <p:cNvPr id="5" name="Author card"/>
          <p:cNvSpPr/>
          <p:nvPr/>
        </p:nvSpPr>
        <p:spPr>
          <a:xfrm>
            <a:off x="731520" y="5072121"/>
            <a:ext cx="4389120" cy="1280160"/>
          </a:xfrm>
          <a:prstGeom prst="roundRect">
            <a:avLst>
              <a:gd name="adj" fmla="val 12857"/>
            </a:avLst>
          </a:prstGeom>
          <a:solidFill>
            <a:srgbClr val="4C1D95"/>
          </a:solidFill>
          <a:ln/>
        </p:spPr>
      </p:sp>
      <p:sp>
        <p:nvSpPr>
          <p:cNvPr id="6" name="Author badge"/>
          <p:cNvSpPr/>
          <p:nvPr/>
        </p:nvSpPr>
        <p:spPr>
          <a:xfrm>
            <a:off x="914400" y="5352972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Graduat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5491065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13432" y="5212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 TARUNREDDY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DDD6FE"/>
                </a:solidFill>
              </a:rPr>
              <a:t>Reg. No: 192424213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DDD6FE"/>
                </a:solidFill>
              </a:rPr>
              <a:t>B.Tech AI &amp; Data Science</a:t>
            </a:r>
            <a:endParaRPr lang="en-US" sz="1600" dirty="0"/>
          </a:p>
        </p:txBody>
      </p:sp>
      <p:sp>
        <p:nvSpPr>
          <p:cNvPr id="9" name="Outer ring"/>
          <p:cNvSpPr/>
          <p:nvPr/>
        </p:nvSpPr>
        <p:spPr>
          <a:xfrm>
            <a:off x="7589520" y="1234440"/>
            <a:ext cx="4206240" cy="4206240"/>
          </a:xfrm>
          <a:prstGeom prst="ellipse">
            <a:avLst/>
          </a:prstGeom>
          <a:solidFill>
            <a:srgbClr val="2E1065">
              <a:alpha val="0"/>
            </a:srgbClr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0" name="Middle ring"/>
          <p:cNvSpPr/>
          <p:nvPr/>
        </p:nvSpPr>
        <p:spPr>
          <a:xfrm>
            <a:off x="8183880" y="1828800"/>
            <a:ext cx="3017520" cy="3017520"/>
          </a:xfrm>
          <a:prstGeom prst="ellipse">
            <a:avLst/>
          </a:prstGeom>
          <a:solidFill>
            <a:srgbClr val="4C1D95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1" name="Core"/>
          <p:cNvSpPr/>
          <p:nvPr/>
        </p:nvSpPr>
        <p:spPr>
          <a:xfrm>
            <a:off x="8823960" y="2468880"/>
            <a:ext cx="1737360" cy="17373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C4B5FD"/>
            </a:solidFill>
            <a:prstDash val="solid"/>
          </a:ln>
        </p:spPr>
      </p:sp>
      <p:pic>
        <p:nvPicPr>
          <p:cNvPr id="12" name="Image 1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880360"/>
            <a:ext cx="822960" cy="822960"/>
          </a:xfrm>
          <a:prstGeom prst="rect">
            <a:avLst/>
          </a:prstGeom>
        </p:spPr>
      </p:pic>
      <p:sp>
        <p:nvSpPr>
          <p:cNvPr id="13" name="Formula chip"/>
          <p:cNvSpPr txBox="1"/>
          <p:nvPr/>
        </p:nvSpPr>
        <p:spPr>
          <a:xfrm>
            <a:off x="7680960" y="96012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gcd(a, b)</a:t>
            </a:r>
            <a:endParaRPr lang="en-US" sz="1400" dirty="0"/>
          </a:p>
        </p:txBody>
      </p:sp>
      <p:sp>
        <p:nvSpPr>
          <p:cNvPr id="14" name="Formula chip"/>
          <p:cNvSpPr txBox="1"/>
          <p:nvPr/>
        </p:nvSpPr>
        <p:spPr>
          <a:xfrm>
            <a:off x="10149840" y="42976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p × q</a:t>
            </a:r>
            <a:endParaRPr lang="en-US" sz="1400" dirty="0"/>
          </a:p>
        </p:txBody>
      </p:sp>
      <p:sp>
        <p:nvSpPr>
          <p:cNvPr id="15" name="Formula chip"/>
          <p:cNvSpPr txBox="1"/>
          <p:nvPr/>
        </p:nvSpPr>
        <p:spPr>
          <a:xfrm>
            <a:off x="7040880" y="5074920"/>
            <a:ext cx="2743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14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φ(n)</a:t>
            </a: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≡ 1 (mod n)</a:t>
            </a:r>
            <a:endParaRPr lang="en-US" sz="1400" dirty="0"/>
          </a:p>
        </p:txBody>
      </p:sp>
      <p:sp>
        <p:nvSpPr>
          <p:cNvPr id="16" name="Formula chip"/>
          <p:cNvSpPr txBox="1"/>
          <p:nvPr/>
        </p:nvSpPr>
        <p:spPr>
          <a:xfrm>
            <a:off x="9966960" y="5074920"/>
            <a:ext cx="18288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M</a:t>
            </a:r>
            <a:r>
              <a:rPr lang="en-US" sz="14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 n</a:t>
            </a:r>
            <a:endParaRPr lang="en-US" sz="1400" dirty="0"/>
          </a:p>
        </p:txBody>
      </p:sp>
      <p:sp>
        <p:nvSpPr>
          <p:cNvPr id="17" name="Key badge"/>
          <p:cNvSpPr/>
          <p:nvPr/>
        </p:nvSpPr>
        <p:spPr>
          <a:xfrm>
            <a:off x="10835640" y="150876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mage 2" descr="Ke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232" y="1673352"/>
            <a:ext cx="365760" cy="365760"/>
          </a:xfrm>
          <a:prstGeom prst="rect">
            <a:avLst/>
          </a:prstGeom>
        </p:spPr>
      </p:pic>
      <p:sp>
        <p:nvSpPr>
          <p:cNvPr id="19" name="Shield badge"/>
          <p:cNvSpPr/>
          <p:nvPr/>
        </p:nvSpPr>
        <p:spPr>
          <a:xfrm>
            <a:off x="7269480" y="41605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Shiel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432511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5897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0110 1001 1100 0101 0011</a:t>
            </a:r>
            <a:endParaRPr 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AE85F-754F-6002-C6FF-B9AE9304AADF}"/>
              </a:ext>
            </a:extLst>
          </p:cNvPr>
          <p:cNvSpPr txBox="1"/>
          <p:nvPr/>
        </p:nvSpPr>
        <p:spPr>
          <a:xfrm>
            <a:off x="731520" y="4536450"/>
            <a:ext cx="527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CO1_AT3 - TECHNICAL 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74101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NUMBER THEORY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Introduction to Number Theory</a:t>
            </a:r>
            <a:endParaRPr lang="en-US" sz="3600" dirty="0"/>
          </a:p>
        </p:txBody>
      </p:sp>
      <p:sp>
        <p:nvSpPr>
          <p:cNvPr id="4" name="Point card"/>
          <p:cNvSpPr/>
          <p:nvPr/>
        </p:nvSpPr>
        <p:spPr>
          <a:xfrm>
            <a:off x="548640" y="1737360"/>
            <a:ext cx="630936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ashta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Number theory is the study of integers and their properties</a:t>
            </a:r>
            <a:endParaRPr lang="en-US" sz="1600" dirty="0"/>
          </a:p>
        </p:txBody>
      </p:sp>
      <p:sp>
        <p:nvSpPr>
          <p:cNvPr id="8" name="Point card"/>
          <p:cNvSpPr/>
          <p:nvPr/>
        </p:nvSpPr>
        <p:spPr>
          <a:xfrm>
            <a:off x="548640" y="2834640"/>
            <a:ext cx="630936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Divi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Key concepts: prime numbers, divisibility and GCD</a:t>
            </a:r>
            <a:endParaRPr lang="en-US" sz="1600" dirty="0"/>
          </a:p>
        </p:txBody>
      </p:sp>
      <p:sp>
        <p:nvSpPr>
          <p:cNvPr id="12" name="Point card"/>
          <p:cNvSpPr/>
          <p:nvPr/>
        </p:nvSpPr>
        <p:spPr>
          <a:xfrm>
            <a:off x="548640" y="3931920"/>
            <a:ext cx="630936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Sync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023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Modular arithmetic is fundamental to cryptographic operations</a:t>
            </a:r>
            <a:endParaRPr lang="en-US" sz="1600" dirty="0"/>
          </a:p>
        </p:txBody>
      </p:sp>
      <p:sp>
        <p:nvSpPr>
          <p:cNvPr id="16" name="Point card"/>
          <p:cNvSpPr/>
          <p:nvPr/>
        </p:nvSpPr>
        <p:spPr>
          <a:xfrm>
            <a:off x="548640" y="5029200"/>
            <a:ext cx="630936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492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provides the mathematical foundation for many cryptographic algorithms</a:t>
            </a:r>
            <a:endParaRPr lang="en-US" sz="1600" dirty="0"/>
          </a:p>
        </p:txBody>
      </p:sp>
      <p:sp>
        <p:nvSpPr>
          <p:cNvPr id="20" name="Concept step"/>
          <p:cNvSpPr txBox="1"/>
          <p:nvPr/>
        </p:nvSpPr>
        <p:spPr>
          <a:xfrm>
            <a:off x="7498080" y="1737360"/>
            <a:ext cx="4142232" cy="749808"/>
          </a:xfrm>
          <a:prstGeom prst="roundRect">
            <a:avLst>
              <a:gd name="adj" fmla="val 24390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NUMBER THEORY</a:t>
            </a:r>
            <a:endParaRPr lang="en-US" sz="1600" dirty="0"/>
          </a:p>
        </p:txBody>
      </p:sp>
      <p:sp>
        <p:nvSpPr>
          <p:cNvPr id="21" name="Down arrow"/>
          <p:cNvSpPr/>
          <p:nvPr/>
        </p:nvSpPr>
        <p:spPr>
          <a:xfrm>
            <a:off x="9386316" y="2532888"/>
            <a:ext cx="365760" cy="329184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2" name="Concept step"/>
          <p:cNvSpPr txBox="1"/>
          <p:nvPr/>
        </p:nvSpPr>
        <p:spPr>
          <a:xfrm>
            <a:off x="7498080" y="2907792"/>
            <a:ext cx="4142232" cy="749808"/>
          </a:xfrm>
          <a:prstGeom prst="roundRect">
            <a:avLst>
              <a:gd name="adj" fmla="val 24390"/>
            </a:avLst>
          </a:prstGeom>
          <a:solidFill>
            <a:schemeClr val="accent2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MODULAR ARITHMETIC</a:t>
            </a:r>
            <a:endParaRPr lang="en-US" sz="1600" dirty="0"/>
          </a:p>
        </p:txBody>
      </p:sp>
      <p:sp>
        <p:nvSpPr>
          <p:cNvPr id="23" name="Down arrow"/>
          <p:cNvSpPr/>
          <p:nvPr/>
        </p:nvSpPr>
        <p:spPr>
          <a:xfrm>
            <a:off x="9386316" y="3703320"/>
            <a:ext cx="365760" cy="329184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4" name="Concept step"/>
          <p:cNvSpPr txBox="1"/>
          <p:nvPr/>
        </p:nvSpPr>
        <p:spPr>
          <a:xfrm>
            <a:off x="7498080" y="4078224"/>
            <a:ext cx="4142232" cy="749808"/>
          </a:xfrm>
          <a:prstGeom prst="roundRect">
            <a:avLst>
              <a:gd name="adj" fmla="val 2439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CRYPTOGRAPHIC ALGORITHMS</a:t>
            </a:r>
            <a:endParaRPr lang="en-US" sz="1600" dirty="0"/>
          </a:p>
        </p:txBody>
      </p:sp>
      <p:sp>
        <p:nvSpPr>
          <p:cNvPr id="25" name="Down arrow"/>
          <p:cNvSpPr/>
          <p:nvPr/>
        </p:nvSpPr>
        <p:spPr>
          <a:xfrm>
            <a:off x="9386316" y="4873752"/>
            <a:ext cx="365760" cy="329184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6" name="Concept step"/>
          <p:cNvSpPr txBox="1"/>
          <p:nvPr/>
        </p:nvSpPr>
        <p:spPr>
          <a:xfrm>
            <a:off x="7498080" y="5248656"/>
            <a:ext cx="4142232" cy="749808"/>
          </a:xfrm>
          <a:prstGeom prst="roundRect">
            <a:avLst>
              <a:gd name="adj" fmla="val 24390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SECURE COMMUNICATION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2333549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EUCLIDEAN ALGORITHM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Euclid’s Algorithm – Finding GCD</a:t>
            </a:r>
            <a:endParaRPr lang="en-US" sz="3600" dirty="0"/>
          </a:p>
        </p:txBody>
      </p:sp>
      <p:sp>
        <p:nvSpPr>
          <p:cNvPr id="4" name="Definition card"/>
          <p:cNvSpPr/>
          <p:nvPr/>
        </p:nvSpPr>
        <p:spPr>
          <a:xfrm>
            <a:off x="548640" y="1737360"/>
            <a:ext cx="512064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Book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0185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GCD = Greatest Common Divisor</a:t>
            </a:r>
            <a:endParaRPr lang="en-US" sz="1600" dirty="0"/>
          </a:p>
        </p:txBody>
      </p:sp>
      <p:sp>
        <p:nvSpPr>
          <p:cNvPr id="8" name="Icon circle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26403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Euclidean Algorithm finds it efficiently</a:t>
            </a:r>
            <a:endParaRPr lang="en-US" sz="1600" dirty="0"/>
          </a:p>
        </p:txBody>
      </p:sp>
      <p:sp>
        <p:nvSpPr>
          <p:cNvPr id="11" name="Formula card"/>
          <p:cNvSpPr txBox="1"/>
          <p:nvPr/>
        </p:nvSpPr>
        <p:spPr>
          <a:xfrm>
            <a:off x="548640" y="3337560"/>
            <a:ext cx="5120640" cy="1143000"/>
          </a:xfrm>
          <a:prstGeom prst="roundRect">
            <a:avLst>
              <a:gd name="adj" fmla="val 14400"/>
            </a:avLst>
          </a:prstGeom>
          <a:solidFill>
            <a:schemeClr val="accent5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gcd(a, b) = gcd(b, a mod b)</a:t>
            </a:r>
            <a:endParaRPr lang="en-US" sz="2400" dirty="0"/>
          </a:p>
        </p:txBody>
      </p:sp>
      <p:sp>
        <p:nvSpPr>
          <p:cNvPr id="12" name="Note card"/>
          <p:cNvSpPr/>
          <p:nvPr/>
        </p:nvSpPr>
        <p:spPr>
          <a:xfrm>
            <a:off x="548640" y="4663440"/>
            <a:ext cx="5120640" cy="141732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7724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Example: gcd(252, 105)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Repeat until the remainder is 0. The last non-zero remainder is the GCD.</a:t>
            </a:r>
            <a:endParaRPr lang="en-US" sz="1500" dirty="0"/>
          </a:p>
        </p:txBody>
      </p:sp>
      <p:sp>
        <p:nvSpPr>
          <p:cNvPr id="15" name="Step card"/>
          <p:cNvSpPr/>
          <p:nvPr/>
        </p:nvSpPr>
        <p:spPr>
          <a:xfrm>
            <a:off x="6126480" y="1737360"/>
            <a:ext cx="5513832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6" name="Step label"/>
          <p:cNvSpPr txBox="1"/>
          <p:nvPr/>
        </p:nvSpPr>
        <p:spPr>
          <a:xfrm>
            <a:off x="6355080" y="196596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STEP 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 = 105 × 2 + 42</a:t>
            </a:r>
            <a:endParaRPr lang="en-US" sz="2400" dirty="0"/>
          </a:p>
        </p:txBody>
      </p:sp>
      <p:sp>
        <p:nvSpPr>
          <p:cNvPr id="18" name="Step card"/>
          <p:cNvSpPr/>
          <p:nvPr/>
        </p:nvSpPr>
        <p:spPr>
          <a:xfrm>
            <a:off x="6126480" y="2834640"/>
            <a:ext cx="5513832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9" name="Step label"/>
          <p:cNvSpPr txBox="1"/>
          <p:nvPr/>
        </p:nvSpPr>
        <p:spPr>
          <a:xfrm>
            <a:off x="6355080" y="306324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STEP 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= 42 × 2 + 21</a:t>
            </a:r>
            <a:endParaRPr lang="en-US" sz="2400" dirty="0"/>
          </a:p>
        </p:txBody>
      </p:sp>
      <p:sp>
        <p:nvSpPr>
          <p:cNvPr id="21" name="Step card"/>
          <p:cNvSpPr/>
          <p:nvPr/>
        </p:nvSpPr>
        <p:spPr>
          <a:xfrm>
            <a:off x="6126480" y="3931920"/>
            <a:ext cx="5513832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2" name="Step label"/>
          <p:cNvSpPr txBox="1"/>
          <p:nvPr/>
        </p:nvSpPr>
        <p:spPr>
          <a:xfrm>
            <a:off x="6355080" y="416052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chemeClr val="bg1"/>
                </a:solidFill>
              </a:rPr>
              <a:t>STEP 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= 21 × 2 + 0</a:t>
            </a:r>
            <a:endParaRPr lang="en-US" sz="2400" dirty="0"/>
          </a:p>
        </p:txBody>
      </p:sp>
      <p:sp>
        <p:nvSpPr>
          <p:cNvPr id="24" name="Result card"/>
          <p:cNvSpPr txBox="1"/>
          <p:nvPr/>
        </p:nvSpPr>
        <p:spPr>
          <a:xfrm>
            <a:off x="6126480" y="5029200"/>
            <a:ext cx="5513832" cy="1051560"/>
          </a:xfrm>
          <a:prstGeom prst="roundRect">
            <a:avLst>
              <a:gd name="adj" fmla="val 15652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gcd(252, 105) = 21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9385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EXTENDED EUCLID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Extended Euclidean Algorithm</a:t>
            </a:r>
            <a:endParaRPr lang="en-US" sz="3600" dirty="0"/>
          </a:p>
        </p:txBody>
      </p:sp>
      <p:sp>
        <p:nvSpPr>
          <p:cNvPr id="4" name="Formula card"/>
          <p:cNvSpPr txBox="1"/>
          <p:nvPr/>
        </p:nvSpPr>
        <p:spPr>
          <a:xfrm>
            <a:off x="548640" y="1737360"/>
            <a:ext cx="5394960" cy="914400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 + by = gcd(a, b)</a:t>
            </a:r>
            <a:endParaRPr lang="en-US" sz="2800" dirty="0"/>
          </a:p>
        </p:txBody>
      </p:sp>
      <p:sp>
        <p:nvSpPr>
          <p:cNvPr id="5" name="Point card"/>
          <p:cNvSpPr/>
          <p:nvPr/>
        </p:nvSpPr>
        <p:spPr>
          <a:xfrm>
            <a:off x="548640" y="2834640"/>
            <a:ext cx="5394960" cy="713232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292608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ExpandArrows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058668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8712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Extension of the Euclidean Algorithm</a:t>
            </a:r>
            <a:endParaRPr lang="en-US" sz="1600" dirty="0"/>
          </a:p>
        </p:txBody>
      </p:sp>
      <p:sp>
        <p:nvSpPr>
          <p:cNvPr id="9" name="Point card"/>
          <p:cNvSpPr/>
          <p:nvPr/>
        </p:nvSpPr>
        <p:spPr>
          <a:xfrm>
            <a:off x="548640" y="3675888"/>
            <a:ext cx="5394960" cy="713232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731520" y="3767328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SearchPlu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389991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7124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Finds the GCD and coefficients x and y</a:t>
            </a:r>
            <a:endParaRPr lang="en-US" sz="1600" dirty="0"/>
          </a:p>
        </p:txBody>
      </p:sp>
      <p:sp>
        <p:nvSpPr>
          <p:cNvPr id="13" name="Point card"/>
          <p:cNvSpPr/>
          <p:nvPr/>
        </p:nvSpPr>
        <p:spPr>
          <a:xfrm>
            <a:off x="548640" y="4517136"/>
            <a:ext cx="5394960" cy="713232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731520" y="4608576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Exchange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741164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5537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Mainly used to compute modular inverses</a:t>
            </a:r>
            <a:endParaRPr lang="en-US" sz="1600" dirty="0"/>
          </a:p>
        </p:txBody>
      </p:sp>
      <p:sp>
        <p:nvSpPr>
          <p:cNvPr id="17" name="Point card"/>
          <p:cNvSpPr/>
          <p:nvPr/>
        </p:nvSpPr>
        <p:spPr>
          <a:xfrm>
            <a:off x="548640" y="5358384"/>
            <a:ext cx="5394960" cy="713232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31520" y="5449824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3" descr="Ke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558241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5394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Important in RSA key generation</a:t>
            </a:r>
            <a:endParaRPr lang="en-US" sz="1600" dirty="0"/>
          </a:p>
        </p:txBody>
      </p:sp>
      <p:sp>
        <p:nvSpPr>
          <p:cNvPr id="21" name="Example card"/>
          <p:cNvSpPr/>
          <p:nvPr/>
        </p:nvSpPr>
        <p:spPr>
          <a:xfrm>
            <a:off x="6309360" y="1737360"/>
            <a:ext cx="5330952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537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find 3</a:t>
            </a:r>
            <a:r>
              <a:rPr lang="en-US" sz="20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 40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= 3 × 13 + 1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= 40 − 13 × 3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3209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(−13) ≡ 1 (mod 40)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537960" y="36027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 ≡ 27 (mod 40)</a:t>
            </a:r>
            <a:endParaRPr lang="en-US" sz="2000" dirty="0"/>
          </a:p>
        </p:txBody>
      </p:sp>
      <p:sp>
        <p:nvSpPr>
          <p:cNvPr id="27" name="Answer box"/>
          <p:cNvSpPr txBox="1"/>
          <p:nvPr/>
        </p:nvSpPr>
        <p:spPr>
          <a:xfrm>
            <a:off x="6537960" y="4206240"/>
            <a:ext cx="4873752" cy="640080"/>
          </a:xfrm>
          <a:prstGeom prst="roundRect">
            <a:avLst>
              <a:gd name="adj" fmla="val 21429"/>
            </a:avLst>
          </a:prstGeom>
          <a:solidFill>
            <a:srgbClr val="FCE7F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3</a:t>
            </a:r>
            <a:r>
              <a:rPr lang="en-US" sz="22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≡ 27 (mod 40)</a:t>
            </a:r>
            <a:endParaRPr lang="en-US" sz="2200" dirty="0"/>
          </a:p>
        </p:txBody>
      </p:sp>
      <p:sp>
        <p:nvSpPr>
          <p:cNvPr id="28" name="Flow step 1"/>
          <p:cNvSpPr txBox="1"/>
          <p:nvPr/>
        </p:nvSpPr>
        <p:spPr>
          <a:xfrm>
            <a:off x="6309360" y="5212080"/>
            <a:ext cx="1097509" cy="859536"/>
          </a:xfrm>
          <a:prstGeom prst="roundRect">
            <a:avLst>
              <a:gd name="adj" fmla="val 15957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Extended Euclid</a:t>
            </a:r>
            <a:endParaRPr lang="en-US" sz="1400" dirty="0"/>
          </a:p>
        </p:txBody>
      </p:sp>
      <p:sp>
        <p:nvSpPr>
          <p:cNvPr id="29" name="Flow arrow"/>
          <p:cNvSpPr/>
          <p:nvPr/>
        </p:nvSpPr>
        <p:spPr>
          <a:xfrm>
            <a:off x="7452589" y="5541858"/>
            <a:ext cx="222199" cy="199979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0" name="Flow step 2"/>
          <p:cNvSpPr txBox="1"/>
          <p:nvPr/>
        </p:nvSpPr>
        <p:spPr>
          <a:xfrm>
            <a:off x="7720508" y="5212080"/>
            <a:ext cx="1097509" cy="859536"/>
          </a:xfrm>
          <a:prstGeom prst="roundRect">
            <a:avLst>
              <a:gd name="adj" fmla="val 15957"/>
            </a:avLst>
          </a:prstGeom>
          <a:solidFill>
            <a:schemeClr val="accent5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GCD</a:t>
            </a:r>
            <a:endParaRPr lang="en-US" sz="1400" dirty="0"/>
          </a:p>
        </p:txBody>
      </p:sp>
      <p:sp>
        <p:nvSpPr>
          <p:cNvPr id="31" name="Flow arrow"/>
          <p:cNvSpPr/>
          <p:nvPr/>
        </p:nvSpPr>
        <p:spPr>
          <a:xfrm>
            <a:off x="8863736" y="5541858"/>
            <a:ext cx="222199" cy="199979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2" name="Flow step 3"/>
          <p:cNvSpPr txBox="1"/>
          <p:nvPr/>
        </p:nvSpPr>
        <p:spPr>
          <a:xfrm>
            <a:off x="9131656" y="5212080"/>
            <a:ext cx="1097509" cy="859536"/>
          </a:xfrm>
          <a:prstGeom prst="roundRect">
            <a:avLst>
              <a:gd name="adj" fmla="val 15957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Modular Inverse</a:t>
            </a:r>
            <a:endParaRPr lang="en-US" sz="1400" dirty="0"/>
          </a:p>
        </p:txBody>
      </p:sp>
      <p:sp>
        <p:nvSpPr>
          <p:cNvPr id="33" name="Flow arrow"/>
          <p:cNvSpPr/>
          <p:nvPr/>
        </p:nvSpPr>
        <p:spPr>
          <a:xfrm>
            <a:off x="10274884" y="5541858"/>
            <a:ext cx="222199" cy="199979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4" name="Flow step 4"/>
          <p:cNvSpPr txBox="1"/>
          <p:nvPr/>
        </p:nvSpPr>
        <p:spPr>
          <a:xfrm>
            <a:off x="10542803" y="5212080"/>
            <a:ext cx="1097509" cy="859536"/>
          </a:xfrm>
          <a:prstGeom prst="roundRect">
            <a:avLst>
              <a:gd name="adj" fmla="val 15957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RSA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2234794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MODULAR ARITHMETIC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Modular Arithmetic &amp; Prime Numbers</a:t>
            </a:r>
            <a:endParaRPr lang="en-US" sz="3600" dirty="0"/>
          </a:p>
        </p:txBody>
      </p:sp>
      <p:sp>
        <p:nvSpPr>
          <p:cNvPr id="4" name="Point card"/>
          <p:cNvSpPr/>
          <p:nvPr/>
        </p:nvSpPr>
        <p:spPr>
          <a:xfrm>
            <a:off x="548640" y="1737360"/>
            <a:ext cx="5760720" cy="621792"/>
          </a:xfrm>
          <a:prstGeom prst="roundRect">
            <a:avLst>
              <a:gd name="adj" fmla="val 2205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13232" y="182880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3736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Modular arithmetic deals with remainders</a:t>
            </a:r>
            <a:endParaRPr lang="en-US" sz="1600" dirty="0"/>
          </a:p>
        </p:txBody>
      </p:sp>
      <p:sp>
        <p:nvSpPr>
          <p:cNvPr id="8" name="Point card"/>
          <p:cNvSpPr/>
          <p:nvPr/>
        </p:nvSpPr>
        <p:spPr>
          <a:xfrm>
            <a:off x="548640" y="2432304"/>
            <a:ext cx="5760720" cy="621792"/>
          </a:xfrm>
          <a:prstGeom prst="roundRect">
            <a:avLst>
              <a:gd name="adj" fmla="val 2205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713232" y="25237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334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43230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Notation: a ≡ b (mod n)</a:t>
            </a:r>
            <a:endParaRPr lang="en-US" sz="1600" dirty="0"/>
          </a:p>
        </p:txBody>
      </p:sp>
      <p:sp>
        <p:nvSpPr>
          <p:cNvPr id="12" name="Point card"/>
          <p:cNvSpPr/>
          <p:nvPr/>
        </p:nvSpPr>
        <p:spPr>
          <a:xfrm>
            <a:off x="548640" y="3127248"/>
            <a:ext cx="5760720" cy="621792"/>
          </a:xfrm>
          <a:prstGeom prst="roundRect">
            <a:avLst>
              <a:gd name="adj" fmla="val 2205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713232" y="321868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284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12724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Example: 17 mod 5 = 2</a:t>
            </a:r>
            <a:endParaRPr lang="en-US" sz="1600" dirty="0"/>
          </a:p>
        </p:txBody>
      </p:sp>
      <p:sp>
        <p:nvSpPr>
          <p:cNvPr id="16" name="Point card"/>
          <p:cNvSpPr/>
          <p:nvPr/>
        </p:nvSpPr>
        <p:spPr>
          <a:xfrm>
            <a:off x="548640" y="3822192"/>
            <a:ext cx="5760720" cy="621792"/>
          </a:xfrm>
          <a:prstGeom prst="roundRect">
            <a:avLst>
              <a:gd name="adj" fmla="val 2205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713232" y="3913632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82219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prime has exactly two positive factors</a:t>
            </a:r>
            <a:endParaRPr lang="en-US" sz="1600" dirty="0"/>
          </a:p>
        </p:txBody>
      </p:sp>
      <p:sp>
        <p:nvSpPr>
          <p:cNvPr id="20" name="Point card"/>
          <p:cNvSpPr/>
          <p:nvPr/>
        </p:nvSpPr>
        <p:spPr>
          <a:xfrm>
            <a:off x="548640" y="4517136"/>
            <a:ext cx="5760720" cy="621792"/>
          </a:xfrm>
          <a:prstGeom prst="roundRect">
            <a:avLst>
              <a:gd name="adj" fmla="val 2205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713232" y="4608576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mage 4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183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451713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Large primes are vital in public-key cryptography</a:t>
            </a:r>
            <a:endParaRPr lang="en-US" sz="1600" dirty="0"/>
          </a:p>
        </p:txBody>
      </p:sp>
      <p:sp>
        <p:nvSpPr>
          <p:cNvPr id="24" name="Clock face"/>
          <p:cNvSpPr/>
          <p:nvPr/>
        </p:nvSpPr>
        <p:spPr>
          <a:xfrm>
            <a:off x="7589520" y="1737360"/>
            <a:ext cx="3108960" cy="31089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5" name="Clock hand"/>
          <p:cNvSpPr/>
          <p:nvPr/>
        </p:nvSpPr>
        <p:spPr>
          <a:xfrm>
            <a:off x="9144000" y="3291840"/>
            <a:ext cx="671839" cy="924706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26" name="Clock number 0"/>
          <p:cNvSpPr txBox="1"/>
          <p:nvPr/>
        </p:nvSpPr>
        <p:spPr>
          <a:xfrm>
            <a:off x="8869680" y="1874520"/>
            <a:ext cx="548640" cy="548640"/>
          </a:xfrm>
          <a:prstGeom prst="ellipse">
            <a:avLst/>
          </a:prstGeom>
          <a:solidFill>
            <a:srgbClr val="CCFBF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0</a:t>
            </a:r>
            <a:endParaRPr lang="en-US" sz="1800" dirty="0"/>
          </a:p>
        </p:txBody>
      </p:sp>
      <p:sp>
        <p:nvSpPr>
          <p:cNvPr id="27" name="Clock number 1"/>
          <p:cNvSpPr txBox="1"/>
          <p:nvPr/>
        </p:nvSpPr>
        <p:spPr>
          <a:xfrm>
            <a:off x="9956738" y="2664314"/>
            <a:ext cx="548640" cy="548640"/>
          </a:xfrm>
          <a:prstGeom prst="ellipse">
            <a:avLst/>
          </a:prstGeom>
          <a:solidFill>
            <a:srgbClr val="CCFBF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28" name="Clock number 2"/>
          <p:cNvSpPr txBox="1"/>
          <p:nvPr/>
        </p:nvSpPr>
        <p:spPr>
          <a:xfrm>
            <a:off x="9541519" y="3942226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9" name="Clock number 3"/>
          <p:cNvSpPr txBox="1"/>
          <p:nvPr/>
        </p:nvSpPr>
        <p:spPr>
          <a:xfrm>
            <a:off x="8197841" y="3942226"/>
            <a:ext cx="548640" cy="548640"/>
          </a:xfrm>
          <a:prstGeom prst="ellipse">
            <a:avLst/>
          </a:prstGeom>
          <a:solidFill>
            <a:srgbClr val="CCFBF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Clock number 4"/>
          <p:cNvSpPr txBox="1"/>
          <p:nvPr/>
        </p:nvSpPr>
        <p:spPr>
          <a:xfrm>
            <a:off x="7782622" y="2664314"/>
            <a:ext cx="548640" cy="548640"/>
          </a:xfrm>
          <a:prstGeom prst="ellipse">
            <a:avLst/>
          </a:prstGeom>
          <a:solidFill>
            <a:srgbClr val="CCFBF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Clock pivot"/>
          <p:cNvSpPr/>
          <p:nvPr/>
        </p:nvSpPr>
        <p:spPr>
          <a:xfrm>
            <a:off x="9052560" y="3200400"/>
            <a:ext cx="182880" cy="18288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31520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17 ≡ 2 (mod 5)   ·   clock of size 5</a:t>
            </a:r>
            <a:endParaRPr lang="en-US" sz="1400" dirty="0"/>
          </a:p>
        </p:txBody>
      </p:sp>
      <p:sp>
        <p:nvSpPr>
          <p:cNvPr id="33" name="Flow step 1"/>
          <p:cNvSpPr txBox="1"/>
          <p:nvPr/>
        </p:nvSpPr>
        <p:spPr>
          <a:xfrm>
            <a:off x="548640" y="5394960"/>
            <a:ext cx="3294888" cy="731520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Prime p + Prime q</a:t>
            </a:r>
            <a:endParaRPr lang="en-US" sz="1800" dirty="0"/>
          </a:p>
        </p:txBody>
      </p:sp>
      <p:sp>
        <p:nvSpPr>
          <p:cNvPr id="34" name="Flow arrow"/>
          <p:cNvSpPr/>
          <p:nvPr/>
        </p:nvSpPr>
        <p:spPr>
          <a:xfrm>
            <a:off x="3962400" y="5596128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5" name="Flow step 2"/>
          <p:cNvSpPr txBox="1"/>
          <p:nvPr/>
        </p:nvSpPr>
        <p:spPr>
          <a:xfrm>
            <a:off x="4447032" y="5394960"/>
            <a:ext cx="3294888" cy="731520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n = p × q</a:t>
            </a:r>
            <a:endParaRPr lang="en-US" sz="1800" dirty="0"/>
          </a:p>
        </p:txBody>
      </p:sp>
      <p:sp>
        <p:nvSpPr>
          <p:cNvPr id="36" name="Flow arrow"/>
          <p:cNvSpPr/>
          <p:nvPr/>
        </p:nvSpPr>
        <p:spPr>
          <a:xfrm>
            <a:off x="7860792" y="5596128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7" name="Flow step 3"/>
          <p:cNvSpPr txBox="1"/>
          <p:nvPr/>
        </p:nvSpPr>
        <p:spPr>
          <a:xfrm>
            <a:off x="8345424" y="5394960"/>
            <a:ext cx="3294888" cy="731520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RSA Key Generation</a:t>
            </a:r>
            <a:endParaRPr lang="en-US" sz="18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938528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EULER’S TOTIENT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Euler’s Totient Function φ(n)</a:t>
            </a:r>
            <a:endParaRPr lang="en-US" sz="3600" dirty="0"/>
          </a:p>
        </p:txBody>
      </p:sp>
      <p:sp>
        <p:nvSpPr>
          <p:cNvPr id="4" name="Point card"/>
          <p:cNvSpPr/>
          <p:nvPr/>
        </p:nvSpPr>
        <p:spPr>
          <a:xfrm>
            <a:off x="548640" y="1737360"/>
            <a:ext cx="52120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49808" y="1920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stO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0459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φ(n) counts integers from 1 to n that are relatively prime to n</a:t>
            </a:r>
            <a:endParaRPr lang="en-US" sz="1600" dirty="0"/>
          </a:p>
        </p:txBody>
      </p:sp>
      <p:sp>
        <p:nvSpPr>
          <p:cNvPr id="8" name="Point card"/>
          <p:cNvSpPr/>
          <p:nvPr/>
        </p:nvSpPr>
        <p:spPr>
          <a:xfrm>
            <a:off x="548640" y="2715768"/>
            <a:ext cx="52120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749808" y="2898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St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" y="302437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761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For a prime p, φ(p) = p − 1</a:t>
            </a:r>
            <a:endParaRPr lang="en-US" sz="1600" dirty="0"/>
          </a:p>
        </p:txBody>
      </p:sp>
      <p:sp>
        <p:nvSpPr>
          <p:cNvPr id="12" name="Point card"/>
          <p:cNvSpPr/>
          <p:nvPr/>
        </p:nvSpPr>
        <p:spPr>
          <a:xfrm>
            <a:off x="548640" y="3694176"/>
            <a:ext cx="521208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749808" y="387705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2" descr="Tim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" y="400278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73989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For distinct primes p, q: φ(pq) = (p−1)(q−1)</a:t>
            </a:r>
            <a:endParaRPr lang="en-US" sz="1600" dirty="0"/>
          </a:p>
        </p:txBody>
      </p:sp>
      <p:sp>
        <p:nvSpPr>
          <p:cNvPr id="16" name="Formula card"/>
          <p:cNvSpPr txBox="1"/>
          <p:nvPr/>
        </p:nvSpPr>
        <p:spPr>
          <a:xfrm>
            <a:off x="548640" y="4754880"/>
            <a:ext cx="5212080" cy="640080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φ(p) = p − 1</a:t>
            </a:r>
            <a:endParaRPr lang="en-US" sz="2200" dirty="0"/>
          </a:p>
        </p:txBody>
      </p:sp>
      <p:sp>
        <p:nvSpPr>
          <p:cNvPr id="17" name="Formula card"/>
          <p:cNvSpPr txBox="1"/>
          <p:nvPr/>
        </p:nvSpPr>
        <p:spPr>
          <a:xfrm>
            <a:off x="548640" y="5486400"/>
            <a:ext cx="5212080" cy="640080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φ(pq) = (p − 1)(q − 1)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</a:rPr>
              <a:t>n = 10   (coprime numbers highlighted)</a:t>
            </a:r>
            <a:endParaRPr lang="en-US" sz="1500" dirty="0"/>
          </a:p>
        </p:txBody>
      </p:sp>
      <p:sp>
        <p:nvSpPr>
          <p:cNvPr id="19" name="Number 1"/>
          <p:cNvSpPr txBox="1"/>
          <p:nvPr/>
        </p:nvSpPr>
        <p:spPr>
          <a:xfrm>
            <a:off x="6309360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20" name="Number 2"/>
          <p:cNvSpPr txBox="1"/>
          <p:nvPr/>
        </p:nvSpPr>
        <p:spPr>
          <a:xfrm>
            <a:off x="7360920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2</a:t>
            </a:r>
            <a:endParaRPr lang="en-US" sz="2600" dirty="0"/>
          </a:p>
        </p:txBody>
      </p:sp>
      <p:sp>
        <p:nvSpPr>
          <p:cNvPr id="21" name="Number 3"/>
          <p:cNvSpPr txBox="1"/>
          <p:nvPr/>
        </p:nvSpPr>
        <p:spPr>
          <a:xfrm>
            <a:off x="8412480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Number 4"/>
          <p:cNvSpPr txBox="1"/>
          <p:nvPr/>
        </p:nvSpPr>
        <p:spPr>
          <a:xfrm>
            <a:off x="9464040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4</a:t>
            </a:r>
            <a:endParaRPr lang="en-US" sz="2600" dirty="0"/>
          </a:p>
        </p:txBody>
      </p:sp>
      <p:sp>
        <p:nvSpPr>
          <p:cNvPr id="23" name="Number 5"/>
          <p:cNvSpPr txBox="1"/>
          <p:nvPr/>
        </p:nvSpPr>
        <p:spPr>
          <a:xfrm>
            <a:off x="10515600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5</a:t>
            </a:r>
            <a:endParaRPr lang="en-US" sz="2600" dirty="0"/>
          </a:p>
        </p:txBody>
      </p:sp>
      <p:sp>
        <p:nvSpPr>
          <p:cNvPr id="24" name="Number 6"/>
          <p:cNvSpPr txBox="1"/>
          <p:nvPr/>
        </p:nvSpPr>
        <p:spPr>
          <a:xfrm>
            <a:off x="6309360" y="324612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6</a:t>
            </a:r>
            <a:endParaRPr lang="en-US" sz="2600" dirty="0"/>
          </a:p>
        </p:txBody>
      </p:sp>
      <p:sp>
        <p:nvSpPr>
          <p:cNvPr id="25" name="Number 7"/>
          <p:cNvSpPr txBox="1"/>
          <p:nvPr/>
        </p:nvSpPr>
        <p:spPr>
          <a:xfrm>
            <a:off x="7360920" y="324612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7</a:t>
            </a:r>
            <a:endParaRPr lang="en-US" sz="2600" dirty="0"/>
          </a:p>
        </p:txBody>
      </p:sp>
      <p:sp>
        <p:nvSpPr>
          <p:cNvPr id="26" name="Number 8"/>
          <p:cNvSpPr txBox="1"/>
          <p:nvPr/>
        </p:nvSpPr>
        <p:spPr>
          <a:xfrm>
            <a:off x="8412480" y="324612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8</a:t>
            </a:r>
            <a:endParaRPr lang="en-US" sz="2600" dirty="0"/>
          </a:p>
        </p:txBody>
      </p:sp>
      <p:sp>
        <p:nvSpPr>
          <p:cNvPr id="27" name="Number 9"/>
          <p:cNvSpPr txBox="1"/>
          <p:nvPr/>
        </p:nvSpPr>
        <p:spPr>
          <a:xfrm>
            <a:off x="9464040" y="324612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9</a:t>
            </a:r>
            <a:endParaRPr lang="en-US" sz="2600" dirty="0"/>
          </a:p>
        </p:txBody>
      </p:sp>
      <p:sp>
        <p:nvSpPr>
          <p:cNvPr id="28" name="Number 10"/>
          <p:cNvSpPr txBox="1"/>
          <p:nvPr/>
        </p:nvSpPr>
        <p:spPr>
          <a:xfrm>
            <a:off x="10515600" y="3246120"/>
            <a:ext cx="9144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A4A"/>
                </a:solidFill>
              </a:rPr>
              <a:t>10</a:t>
            </a:r>
            <a:endParaRPr lang="en-US" sz="2600" dirty="0"/>
          </a:p>
        </p:txBody>
      </p:sp>
      <p:sp>
        <p:nvSpPr>
          <p:cNvPr id="29" name="Result card"/>
          <p:cNvSpPr/>
          <p:nvPr/>
        </p:nvSpPr>
        <p:spPr>
          <a:xfrm>
            <a:off x="6309360" y="4434840"/>
            <a:ext cx="5120640" cy="16459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65836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Coprime to 10:  1, 3, 7, 9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658368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φ(10) = 4</a:t>
            </a:r>
            <a:endParaRPr lang="en-US" sz="4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9385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EULER’S THEOREM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Euler’s Theorem</a:t>
            </a:r>
            <a:endParaRPr lang="en-US" sz="3600" dirty="0"/>
          </a:p>
        </p:txBody>
      </p:sp>
      <p:sp>
        <p:nvSpPr>
          <p:cNvPr id="4" name="Theorem card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9D5FF"/>
                </a:solidFill>
              </a:rPr>
              <a:t>If gcd(a, n) = 1, then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5400" b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φ(n)</a:t>
            </a: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≡  1 (mod n)</a:t>
            </a:r>
            <a:endParaRPr lang="en-US" sz="5400" dirty="0"/>
          </a:p>
        </p:txBody>
      </p:sp>
      <p:sp>
        <p:nvSpPr>
          <p:cNvPr id="7" name="Point card"/>
          <p:cNvSpPr/>
          <p:nvPr/>
        </p:nvSpPr>
        <p:spPr>
          <a:xfrm>
            <a:off x="548640" y="3931920"/>
            <a:ext cx="256032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Lin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26339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Connects number theory with cryptography</a:t>
            </a:r>
            <a:endParaRPr lang="en-US" sz="1600" dirty="0"/>
          </a:p>
        </p:txBody>
      </p:sp>
      <p:sp>
        <p:nvSpPr>
          <p:cNvPr id="11" name="Point card"/>
          <p:cNvSpPr/>
          <p:nvPr/>
        </p:nvSpPr>
        <p:spPr>
          <a:xfrm>
            <a:off x="3392424" y="3931920"/>
            <a:ext cx="256032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3621024" y="41148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614" y="426339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21024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Supports modular exponentiation</a:t>
            </a:r>
            <a:endParaRPr lang="en-US" sz="1600" dirty="0"/>
          </a:p>
        </p:txBody>
      </p:sp>
      <p:sp>
        <p:nvSpPr>
          <p:cNvPr id="15" name="Point card"/>
          <p:cNvSpPr/>
          <p:nvPr/>
        </p:nvSpPr>
        <p:spPr>
          <a:xfrm>
            <a:off x="6236208" y="3931920"/>
            <a:ext cx="256032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6464808" y="41148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LayerGro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398" y="42633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4808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Mathematical foundation for RSA</a:t>
            </a:r>
            <a:endParaRPr lang="en-US" sz="1600" dirty="0"/>
          </a:p>
        </p:txBody>
      </p:sp>
      <p:sp>
        <p:nvSpPr>
          <p:cNvPr id="19" name="Point card"/>
          <p:cNvSpPr/>
          <p:nvPr/>
        </p:nvSpPr>
        <p:spPr>
          <a:xfrm>
            <a:off x="9079992" y="3931920"/>
            <a:ext cx="256032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308592" y="41148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3" descr="Un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182" y="42633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08592" y="4800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Explains why RSA decryption works</a:t>
            </a:r>
            <a:endParaRPr lang="en-US" sz="1600" dirty="0"/>
          </a:p>
        </p:txBody>
      </p:sp>
      <p:sp>
        <p:nvSpPr>
          <p:cNvPr id="23" name="Check bar"/>
          <p:cNvSpPr/>
          <p:nvPr/>
        </p:nvSpPr>
        <p:spPr>
          <a:xfrm>
            <a:off x="548640" y="5715000"/>
            <a:ext cx="11091672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Check: </a:t>
            </a:r>
            <a:r>
              <a:rPr lang="en-US" sz="1600" dirty="0">
                <a:solidFill>
                  <a:schemeClr val="tx1"/>
                </a:solidFill>
              </a:rPr>
              <a:t>gcd(3, 10) = 1 and φ(10) = 4, so 3</a:t>
            </a:r>
            <a:r>
              <a:rPr lang="en-US" sz="1600" baseline="30000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= 81 ≡ 1 (mod 10)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2037283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RSA CRYPTOSYSTEM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Number Theory in RSA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</a:rPr>
              <a:t>KEY GENERATION</a:t>
            </a:r>
            <a:endParaRPr lang="en-US" sz="1500" dirty="0"/>
          </a:p>
        </p:txBody>
      </p:sp>
      <p:sp>
        <p:nvSpPr>
          <p:cNvPr id="5" name="Key step card"/>
          <p:cNvSpPr/>
          <p:nvPr/>
        </p:nvSpPr>
        <p:spPr>
          <a:xfrm>
            <a:off x="548640" y="2057400"/>
            <a:ext cx="201168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6" name="Step number"/>
          <p:cNvSpPr txBox="1"/>
          <p:nvPr/>
        </p:nvSpPr>
        <p:spPr>
          <a:xfrm>
            <a:off x="731520" y="2221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primes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p, q</a:t>
            </a:r>
            <a:endParaRPr lang="en-US" sz="1500" dirty="0"/>
          </a:p>
        </p:txBody>
      </p:sp>
      <p:sp>
        <p:nvSpPr>
          <p:cNvPr id="9" name="Key step card"/>
          <p:cNvSpPr/>
          <p:nvPr/>
        </p:nvSpPr>
        <p:spPr>
          <a:xfrm>
            <a:off x="2816352" y="2057400"/>
            <a:ext cx="201168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0" name="Step number"/>
          <p:cNvSpPr txBox="1"/>
          <p:nvPr/>
        </p:nvSpPr>
        <p:spPr>
          <a:xfrm>
            <a:off x="2999232" y="22219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 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pq</a:t>
            </a:r>
            <a:endParaRPr lang="en-US" sz="1500" dirty="0"/>
          </a:p>
        </p:txBody>
      </p:sp>
      <p:sp>
        <p:nvSpPr>
          <p:cNvPr id="13" name="Key step card"/>
          <p:cNvSpPr/>
          <p:nvPr/>
        </p:nvSpPr>
        <p:spPr>
          <a:xfrm>
            <a:off x="5084064" y="2057400"/>
            <a:ext cx="201168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4" name="Step number"/>
          <p:cNvSpPr txBox="1"/>
          <p:nvPr/>
        </p:nvSpPr>
        <p:spPr>
          <a:xfrm>
            <a:off x="5266944" y="22219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 φ(n)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(p−1)(q−1)</a:t>
            </a:r>
            <a:endParaRPr lang="en-US" sz="1500" dirty="0"/>
          </a:p>
        </p:txBody>
      </p:sp>
      <p:sp>
        <p:nvSpPr>
          <p:cNvPr id="17" name="Key step card"/>
          <p:cNvSpPr/>
          <p:nvPr/>
        </p:nvSpPr>
        <p:spPr>
          <a:xfrm>
            <a:off x="7351776" y="2057400"/>
            <a:ext cx="201168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8" name="Step number"/>
          <p:cNvSpPr txBox="1"/>
          <p:nvPr/>
        </p:nvSpPr>
        <p:spPr>
          <a:xfrm>
            <a:off x="7534656" y="22219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534656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Select 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gcd(e, φ(n)) = 1</a:t>
            </a:r>
            <a:endParaRPr lang="en-US" sz="1500" dirty="0"/>
          </a:p>
        </p:txBody>
      </p:sp>
      <p:sp>
        <p:nvSpPr>
          <p:cNvPr id="21" name="Key step card"/>
          <p:cNvSpPr/>
          <p:nvPr/>
        </p:nvSpPr>
        <p:spPr>
          <a:xfrm>
            <a:off x="9619488" y="2057400"/>
            <a:ext cx="2011680" cy="1600200"/>
          </a:xfrm>
          <a:prstGeom prst="roundRect">
            <a:avLst>
              <a:gd name="adj" fmla="val 1028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2" name="Step number"/>
          <p:cNvSpPr txBox="1"/>
          <p:nvPr/>
        </p:nvSpPr>
        <p:spPr>
          <a:xfrm>
            <a:off x="9802368" y="22219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 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02368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≡ 1 (mod φ(n))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</a:rPr>
              <a:t>ENCRYPTION &amp; DECRYPTION</a:t>
            </a:r>
            <a:endParaRPr lang="en-US" sz="1500" dirty="0"/>
          </a:p>
        </p:txBody>
      </p:sp>
      <p:sp>
        <p:nvSpPr>
          <p:cNvPr id="26" name="Crypto card"/>
          <p:cNvSpPr/>
          <p:nvPr/>
        </p:nvSpPr>
        <p:spPr>
          <a:xfrm>
            <a:off x="548640" y="4206240"/>
            <a:ext cx="448056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27" name="Step number"/>
          <p:cNvSpPr txBox="1"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Encryption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C4A7A"/>
                </a:solidFill>
              </a:rPr>
              <a:t>public key (e, n)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M</a:t>
            </a:r>
            <a:r>
              <a:rPr lang="en-US" sz="34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 n</a:t>
            </a:r>
            <a:endParaRPr lang="en-US" sz="3400" dirty="0"/>
          </a:p>
        </p:txBody>
      </p:sp>
      <p:sp>
        <p:nvSpPr>
          <p:cNvPr id="31" name="Crypto card"/>
          <p:cNvSpPr/>
          <p:nvPr/>
        </p:nvSpPr>
        <p:spPr>
          <a:xfrm>
            <a:off x="7159752" y="4206240"/>
            <a:ext cx="448056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32" name="Step number"/>
          <p:cNvSpPr txBox="1"/>
          <p:nvPr/>
        </p:nvSpPr>
        <p:spPr>
          <a:xfrm>
            <a:off x="7434072" y="4434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165592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Decryption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C4A7A"/>
                </a:solidFill>
              </a:rPr>
              <a:t>private key (d, n)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34072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C</a:t>
            </a:r>
            <a:r>
              <a:rPr lang="en-US" sz="3400" b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 n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45720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ciphertext C</a:t>
            </a:r>
            <a:endParaRPr lang="en-US" sz="1500" dirty="0"/>
          </a:p>
        </p:txBody>
      </p:sp>
      <p:sp>
        <p:nvSpPr>
          <p:cNvPr id="37" name="Ciphertext arrow"/>
          <p:cNvSpPr/>
          <p:nvPr/>
        </p:nvSpPr>
        <p:spPr>
          <a:xfrm>
            <a:off x="5257800" y="4983480"/>
            <a:ext cx="1673352" cy="4572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839773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bg1"/>
                </a:solidFill>
              </a:rPr>
              <a:t>WORKED EXAMPLE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RSA Example &amp; Implementation</a:t>
            </a:r>
            <a:endParaRPr lang="en-US" sz="3600" dirty="0"/>
          </a:p>
        </p:txBody>
      </p:sp>
      <p:sp>
        <p:nvSpPr>
          <p:cNvPr id="4" name="Worked example card"/>
          <p:cNvSpPr/>
          <p:nvPr/>
        </p:nvSpPr>
        <p:spPr>
          <a:xfrm>
            <a:off x="548640" y="1737360"/>
            <a:ext cx="5394960" cy="3611880"/>
          </a:xfrm>
          <a:prstGeom prst="roundRect">
            <a:avLst>
              <a:gd name="adj" fmla="val 45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5, q = 11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408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5 × 11 = 55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φ(n) = (5−1)(11−1) = 40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821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3,   3d ≡ 1 (mod 40) 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 = 27</a:t>
            </a:r>
            <a:endParaRPr lang="en-US" sz="1900" dirty="0"/>
          </a:p>
        </p:txBody>
      </p:sp>
      <p:sp>
        <p:nvSpPr>
          <p:cNvPr id="9" name="Public key"/>
          <p:cNvSpPr txBox="1"/>
          <p:nvPr/>
        </p:nvSpPr>
        <p:spPr>
          <a:xfrm>
            <a:off x="822960" y="3794760"/>
            <a:ext cx="4846320" cy="457200"/>
          </a:xfrm>
          <a:prstGeom prst="roundRect">
            <a:avLst>
              <a:gd name="adj" fmla="val 3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 = (3, 55)</a:t>
            </a:r>
            <a:endParaRPr lang="en-US" sz="1800" dirty="0"/>
          </a:p>
        </p:txBody>
      </p:sp>
      <p:sp>
        <p:nvSpPr>
          <p:cNvPr id="10" name="Private key"/>
          <p:cNvSpPr txBox="1"/>
          <p:nvPr/>
        </p:nvSpPr>
        <p:spPr>
          <a:xfrm>
            <a:off x="822960" y="4343400"/>
            <a:ext cx="4846320" cy="4572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Key = (27, 55)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Example: </a:t>
            </a:r>
            <a:r>
              <a:rPr lang="en-US" sz="1500" dirty="0">
                <a:solidFill>
                  <a:schemeClr val="tx1"/>
                </a:solidFill>
              </a:rPr>
              <a:t>M = 2 → C = 2</a:t>
            </a:r>
            <a:r>
              <a:rPr lang="en-US" sz="1500" baseline="30000" dirty="0">
                <a:solidFill>
                  <a:schemeClr val="tx1"/>
                </a:solidFill>
              </a:rPr>
              <a:t>3</a:t>
            </a:r>
            <a:r>
              <a:rPr lang="en-US" sz="1500" dirty="0">
                <a:solidFill>
                  <a:schemeClr val="tx1"/>
                </a:solidFill>
              </a:rPr>
              <a:t> mod 55 = 8 → 8</a:t>
            </a:r>
            <a:r>
              <a:rPr lang="en-US" sz="1500" baseline="30000" dirty="0">
                <a:solidFill>
                  <a:schemeClr val="tx1"/>
                </a:solidFill>
              </a:rPr>
              <a:t>27</a:t>
            </a:r>
            <a:r>
              <a:rPr lang="en-US" sz="1500" dirty="0">
                <a:solidFill>
                  <a:schemeClr val="tx1"/>
                </a:solidFill>
              </a:rPr>
              <a:t> mod 55 = 2</a:t>
            </a:r>
            <a:endParaRPr lang="en-US" sz="1500" dirty="0"/>
          </a:p>
        </p:txBody>
      </p:sp>
      <p:sp>
        <p:nvSpPr>
          <p:cNvPr id="12" name="Code card"/>
          <p:cNvSpPr/>
          <p:nvPr/>
        </p:nvSpPr>
        <p:spPr>
          <a:xfrm>
            <a:off x="6217920" y="1737360"/>
            <a:ext cx="5422392" cy="3611880"/>
          </a:xfrm>
          <a:prstGeom prst="roundRect">
            <a:avLst>
              <a:gd name="adj" fmla="val 4557"/>
            </a:avLst>
          </a:prstGeom>
          <a:solidFill>
            <a:srgbClr val="1E1B4B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</p:sp>
      <p:sp>
        <p:nvSpPr>
          <p:cNvPr id="13" name="Window dot"/>
          <p:cNvSpPr/>
          <p:nvPr/>
        </p:nvSpPr>
        <p:spPr>
          <a:xfrm>
            <a:off x="6446520" y="1920240"/>
            <a:ext cx="137160" cy="13716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Window dot"/>
          <p:cNvSpPr/>
          <p:nvPr/>
        </p:nvSpPr>
        <p:spPr>
          <a:xfrm>
            <a:off x="6665976" y="1920240"/>
            <a:ext cx="137160" cy="1371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5" name="Window dot"/>
          <p:cNvSpPr/>
          <p:nvPr/>
        </p:nvSpPr>
        <p:spPr>
          <a:xfrm>
            <a:off x="6885432" y="1920240"/>
            <a:ext cx="137160" cy="13716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5B4FC"/>
                </a:solidFill>
              </a:rPr>
              <a:t>Python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2860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 </a:t>
            </a: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gcd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sum(gcd(i, n) == 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4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 + </a:t>
            </a: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(gcd(252, 105))   </a:t>
            </a:r>
            <a:r>
              <a:rPr lang="en-US" sz="14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(pow(3, -1, 40))  </a:t>
            </a:r>
            <a:r>
              <a:rPr lang="en-US" sz="14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4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(phi(10))         </a:t>
            </a:r>
            <a:r>
              <a:rPr lang="en-US" sz="14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</p:txBody>
      </p:sp>
      <p:sp>
        <p:nvSpPr>
          <p:cNvPr id="18" name="Flow step 1"/>
          <p:cNvSpPr txBox="1"/>
          <p:nvPr/>
        </p:nvSpPr>
        <p:spPr>
          <a:xfrm>
            <a:off x="548640" y="5532120"/>
            <a:ext cx="1830629" cy="621792"/>
          </a:xfrm>
          <a:prstGeom prst="roundRect">
            <a:avLst>
              <a:gd name="adj" fmla="val 22059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Message</a:t>
            </a:r>
            <a:endParaRPr lang="en-US" sz="1500" dirty="0"/>
          </a:p>
        </p:txBody>
      </p:sp>
      <p:sp>
        <p:nvSpPr>
          <p:cNvPr id="19" name="Flow arrow"/>
          <p:cNvSpPr/>
          <p:nvPr/>
        </p:nvSpPr>
        <p:spPr>
          <a:xfrm>
            <a:off x="2438705" y="5678424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0" name="Flow step 2"/>
          <p:cNvSpPr txBox="1"/>
          <p:nvPr/>
        </p:nvSpPr>
        <p:spPr>
          <a:xfrm>
            <a:off x="2863901" y="5532120"/>
            <a:ext cx="1830629" cy="621792"/>
          </a:xfrm>
          <a:prstGeom prst="roundRect">
            <a:avLst>
              <a:gd name="adj" fmla="val 22059"/>
            </a:avLst>
          </a:prstGeom>
          <a:solidFill>
            <a:schemeClr val="accent2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Encryption</a:t>
            </a:r>
            <a:endParaRPr lang="en-US" sz="1500" dirty="0"/>
          </a:p>
        </p:txBody>
      </p:sp>
      <p:sp>
        <p:nvSpPr>
          <p:cNvPr id="21" name="Flow arrow"/>
          <p:cNvSpPr/>
          <p:nvPr/>
        </p:nvSpPr>
        <p:spPr>
          <a:xfrm>
            <a:off x="4753966" y="5678424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2" name="Flow step 3"/>
          <p:cNvSpPr txBox="1"/>
          <p:nvPr/>
        </p:nvSpPr>
        <p:spPr>
          <a:xfrm>
            <a:off x="5179162" y="5532120"/>
            <a:ext cx="1830629" cy="621792"/>
          </a:xfrm>
          <a:prstGeom prst="roundRect">
            <a:avLst>
              <a:gd name="adj" fmla="val 22059"/>
            </a:avLst>
          </a:prstGeom>
          <a:solidFill>
            <a:schemeClr val="accent3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Ciphertext</a:t>
            </a:r>
            <a:endParaRPr lang="en-US" sz="1500" dirty="0"/>
          </a:p>
        </p:txBody>
      </p:sp>
      <p:sp>
        <p:nvSpPr>
          <p:cNvPr id="23" name="Flow arrow"/>
          <p:cNvSpPr/>
          <p:nvPr/>
        </p:nvSpPr>
        <p:spPr>
          <a:xfrm>
            <a:off x="7069226" y="5678424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4" name="Flow step 4"/>
          <p:cNvSpPr txBox="1"/>
          <p:nvPr/>
        </p:nvSpPr>
        <p:spPr>
          <a:xfrm>
            <a:off x="7494422" y="5532120"/>
            <a:ext cx="1830629" cy="621792"/>
          </a:xfrm>
          <a:prstGeom prst="roundRect">
            <a:avLst>
              <a:gd name="adj" fmla="val 22059"/>
            </a:avLst>
          </a:prstGeom>
          <a:solidFill>
            <a:schemeClr val="accent4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Decryption</a:t>
            </a:r>
            <a:endParaRPr lang="en-US" sz="1500" dirty="0"/>
          </a:p>
        </p:txBody>
      </p:sp>
      <p:sp>
        <p:nvSpPr>
          <p:cNvPr id="25" name="Flow arrow"/>
          <p:cNvSpPr/>
          <p:nvPr/>
        </p:nvSpPr>
        <p:spPr>
          <a:xfrm>
            <a:off x="9384487" y="5678424"/>
            <a:ext cx="365760" cy="32918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6" name="Flow step 5"/>
          <p:cNvSpPr txBox="1"/>
          <p:nvPr/>
        </p:nvSpPr>
        <p:spPr>
          <a:xfrm>
            <a:off x="9809683" y="5532120"/>
            <a:ext cx="1830629" cy="621792"/>
          </a:xfrm>
          <a:prstGeom prst="roundRect">
            <a:avLst>
              <a:gd name="adj" fmla="val 22059"/>
            </a:avLst>
          </a:prstGeom>
          <a:solidFill>
            <a:schemeClr val="accent5"/>
          </a:solidFill>
          <a:ln/>
          <a:effectLst>
            <a:outerShdw blurRad="127000" dist="38100" dir="5400000" algn="bl" rotWithShape="0">
              <a:srgbClr val="1E1B4B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Original Message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4E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 txBox="1"/>
          <p:nvPr/>
        </p:nvSpPr>
        <p:spPr>
          <a:xfrm>
            <a:off x="548640" y="347472"/>
            <a:ext cx="1148486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chemeClr val="tx1"/>
                </a:solidFill>
              </a:rPr>
              <a:t>WRAP-UP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Applications, Conclusion &amp; References</a:t>
            </a:r>
            <a:endParaRPr lang="en-US" sz="3600" dirty="0"/>
          </a:p>
        </p:txBody>
      </p:sp>
      <p:sp>
        <p:nvSpPr>
          <p:cNvPr id="4" name="Column card"/>
          <p:cNvSpPr/>
          <p:nvPr/>
        </p:nvSpPr>
        <p:spPr>
          <a:xfrm>
            <a:off x="548640" y="1691640"/>
            <a:ext cx="3200400" cy="3429000"/>
          </a:xfrm>
          <a:prstGeom prst="roundRect">
            <a:avLst>
              <a:gd name="adj" fmla="val 5714"/>
            </a:avLst>
          </a:prstGeom>
          <a:solidFill>
            <a:srgbClr val="4C1D95"/>
          </a:solidFill>
          <a:ln/>
        </p:spPr>
      </p:sp>
      <p:sp>
        <p:nvSpPr>
          <p:cNvPr id="5" name="Column header"/>
          <p:cNvSpPr txBox="1"/>
          <p:nvPr/>
        </p:nvSpPr>
        <p:spPr>
          <a:xfrm>
            <a:off x="731520" y="187452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bg1"/>
                </a:solidFill>
              </a:rPr>
              <a:t>APPLICATIONS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RSA encryption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Diffie-Hellman key exchange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Digital signatures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Secure communication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Digital certificates</a:t>
            </a:r>
            <a:endParaRPr lang="en-US" sz="1600" dirty="0"/>
          </a:p>
        </p:txBody>
      </p:sp>
      <p:sp>
        <p:nvSpPr>
          <p:cNvPr id="7" name="Column card"/>
          <p:cNvSpPr/>
          <p:nvPr/>
        </p:nvSpPr>
        <p:spPr>
          <a:xfrm>
            <a:off x="3931920" y="1691640"/>
            <a:ext cx="4480560" cy="3429000"/>
          </a:xfrm>
          <a:prstGeom prst="roundRect">
            <a:avLst>
              <a:gd name="adj" fmla="val 5333"/>
            </a:avLst>
          </a:prstGeom>
          <a:solidFill>
            <a:srgbClr val="4C1D95"/>
          </a:solidFill>
          <a:ln/>
        </p:spPr>
      </p:sp>
      <p:sp>
        <p:nvSpPr>
          <p:cNvPr id="8" name="Column header"/>
          <p:cNvSpPr txBox="1"/>
          <p:nvPr/>
        </p:nvSpPr>
        <p:spPr>
          <a:xfrm>
            <a:off x="4114800" y="1874520"/>
            <a:ext cx="411480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bg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56032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Number theory is a fundamental foundation of cryptography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Euclid gives efficient GCD computation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Extended Euclid enables modular inverses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Euler’s totient and theorem underpin RSA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Together they secure digital communication</a:t>
            </a:r>
            <a:endParaRPr lang="en-US" sz="1600" dirty="0"/>
          </a:p>
        </p:txBody>
      </p:sp>
      <p:sp>
        <p:nvSpPr>
          <p:cNvPr id="10" name="Column card"/>
          <p:cNvSpPr/>
          <p:nvPr/>
        </p:nvSpPr>
        <p:spPr>
          <a:xfrm>
            <a:off x="8595360" y="1691640"/>
            <a:ext cx="3044952" cy="3429000"/>
          </a:xfrm>
          <a:prstGeom prst="roundRect">
            <a:avLst>
              <a:gd name="adj" fmla="val 6006"/>
            </a:avLst>
          </a:prstGeom>
          <a:solidFill>
            <a:srgbClr val="4C1D95"/>
          </a:solidFill>
          <a:ln/>
        </p:spPr>
      </p:sp>
      <p:sp>
        <p:nvSpPr>
          <p:cNvPr id="11" name="Column header"/>
          <p:cNvSpPr txBox="1"/>
          <p:nvPr/>
        </p:nvSpPr>
        <p:spPr>
          <a:xfrm>
            <a:off x="8778240" y="1874520"/>
            <a:ext cx="267919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bg1"/>
                </a:solidFill>
              </a:rPr>
              <a:t>REFERENCES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560320"/>
            <a:ext cx="25877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Cryptography and Network Security textbooks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Number theory textbooks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Standard academic cryptography resources</a:t>
            </a:r>
            <a:endParaRPr lang="en-US" sz="1600" dirty="0"/>
          </a:p>
        </p:txBody>
      </p:sp>
      <p:sp>
        <p:nvSpPr>
          <p:cNvPr id="13" name="Quote banner"/>
          <p:cNvSpPr txBox="1"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Euclid to Euler, number theory transforms mathematical principles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practical digital security.”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9AEF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 Spectrum">
  <a:themeElements>
    <a:clrScheme name="Crypto Spectrum">
      <a:dk1>
        <a:srgbClr val="1E1B4B"/>
      </a:dk1>
      <a:lt1>
        <a:srgbClr val="FFFFFF"/>
      </a:lt1>
      <a:dk2>
        <a:srgbClr val="2E1065"/>
      </a:dk2>
      <a:lt2>
        <a:srgbClr val="EDE9FE"/>
      </a:lt2>
      <a:accent1>
        <a:srgbClr val="7C3AED"/>
      </a:accent1>
      <a:accent2>
        <a:srgbClr val="DB2777"/>
      </a:accent2>
      <a:accent3>
        <a:srgbClr val="EA580C"/>
      </a:accent3>
      <a:accent4>
        <a:srgbClr val="0D9488"/>
      </a:accent4>
      <a:accent5>
        <a:srgbClr val="0284C7"/>
      </a:accent5>
      <a:accent6>
        <a:srgbClr val="FACC15"/>
      </a:accent6>
      <a:hlink>
        <a:srgbClr val="0284C7"/>
      </a:hlink>
      <a:folHlink>
        <a:srgbClr val="7C3AED"/>
      </a:folHlink>
    </a:clrScheme>
    <a:fontScheme name="Crypto Spectr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916</Words>
  <Application>Microsoft Office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Crypto Spectrum</vt:lpstr>
      <vt:lpstr>Role of Number Theory in Cryptography: From Euclid to Euler</vt:lpstr>
      <vt:lpstr>Introduction to Number Theory</vt:lpstr>
      <vt:lpstr>Euclid’s Algorithm – Finding GCD</vt:lpstr>
      <vt:lpstr>Extended Euclidean Algorithm</vt:lpstr>
      <vt:lpstr>Modular Arithmetic &amp; Prime Numbers</vt:lpstr>
      <vt:lpstr>Euler’s Totient Function φ(n)</vt:lpstr>
      <vt:lpstr>Euler’s Theorem</vt:lpstr>
      <vt:lpstr>Number Theory in RSA</vt:lpstr>
      <vt:lpstr>Worked RSA Example &amp; Implementation</vt:lpstr>
      <vt:lpstr>Applications, Conclusion &amp;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Number Theory in Cryptography: From Euclid to Euler</dc:title>
  <dc:subject>PptxGenJS Presentation</dc:subject>
  <dc:creator>B Tarunreddy</dc:creator>
  <cp:lastModifiedBy>TARUNREDDY B</cp:lastModifiedBy>
  <cp:revision>2</cp:revision>
  <dcterms:created xsi:type="dcterms:W3CDTF">2026-10-08T03:28:04Z</dcterms:created>
  <dcterms:modified xsi:type="dcterms:W3CDTF">2026-10-08T04:29:52Z</dcterms:modified>
</cp:coreProperties>
</file>